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6"/>
  </p:notesMasterIdLst>
  <p:sldIdLst>
    <p:sldId id="256" r:id="rId2"/>
    <p:sldId id="258" r:id="rId3"/>
    <p:sldId id="262" r:id="rId4"/>
    <p:sldId id="264" r:id="rId5"/>
    <p:sldId id="313" r:id="rId6"/>
    <p:sldId id="312" r:id="rId7"/>
    <p:sldId id="316" r:id="rId8"/>
    <p:sldId id="314" r:id="rId9"/>
    <p:sldId id="321" r:id="rId10"/>
    <p:sldId id="315" r:id="rId11"/>
    <p:sldId id="320" r:id="rId12"/>
    <p:sldId id="317" r:id="rId13"/>
    <p:sldId id="318" r:id="rId14"/>
    <p:sldId id="319" r:id="rId15"/>
  </p:sldIdLst>
  <p:sldSz cx="9144000" cy="5143500" type="screen16x9"/>
  <p:notesSz cx="6858000" cy="9144000"/>
  <p:embeddedFontLst>
    <p:embeddedFont>
      <p:font typeface="Albert Sans" panose="020B0604020202020204" charset="0"/>
      <p:regular r:id="rId17"/>
      <p:bold r:id="rId18"/>
      <p:italic r:id="rId19"/>
      <p:boldItalic r:id="rId20"/>
    </p:embeddedFont>
    <p:embeddedFont>
      <p:font typeface="Alexandria Medium" panose="020B0604020202020204" charset="-78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098CAA4-5D30-40FF-BDAE-B250A0CEFE37}">
  <a:tblStyle styleId="{E098CAA4-5D30-40FF-BDAE-B250A0CEFE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62216D8-4695-4A0C-9BF4-C7DA5BCBBA3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58abb5f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558abb5f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703cb3a7b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359DB17E-5BB3-FFC9-A391-82F78EA1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>
            <a:extLst>
              <a:ext uri="{FF2B5EF4-FFF2-40B4-BE49-F238E27FC236}">
                <a16:creationId xmlns:a16="http://schemas.microsoft.com/office/drawing/2014/main" id="{6B95F6C7-3DAE-96EB-6AF6-4D20199F85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>
            <a:extLst>
              <a:ext uri="{FF2B5EF4-FFF2-40B4-BE49-F238E27FC236}">
                <a16:creationId xmlns:a16="http://schemas.microsoft.com/office/drawing/2014/main" id="{2F5D13E9-13B6-2212-7CA1-1FA1CB9AD9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8129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84CE6771-8031-A896-0DE4-175A0CE5F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>
            <a:extLst>
              <a:ext uri="{FF2B5EF4-FFF2-40B4-BE49-F238E27FC236}">
                <a16:creationId xmlns:a16="http://schemas.microsoft.com/office/drawing/2014/main" id="{F2ED0980-9730-88DC-59A1-B14BAC2AF6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703cb3a7b_0_64:notes">
            <a:extLst>
              <a:ext uri="{FF2B5EF4-FFF2-40B4-BE49-F238E27FC236}">
                <a16:creationId xmlns:a16="http://schemas.microsoft.com/office/drawing/2014/main" id="{2581D918-FE29-25AF-D0FA-5FEEC66D9B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4403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51619620-BE75-7DCB-C26E-8BCEAE889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>
            <a:extLst>
              <a:ext uri="{FF2B5EF4-FFF2-40B4-BE49-F238E27FC236}">
                <a16:creationId xmlns:a16="http://schemas.microsoft.com/office/drawing/2014/main" id="{C2533CE5-C996-F6F0-7FAA-116098A804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>
            <a:extLst>
              <a:ext uri="{FF2B5EF4-FFF2-40B4-BE49-F238E27FC236}">
                <a16:creationId xmlns:a16="http://schemas.microsoft.com/office/drawing/2014/main" id="{A2CD1AA5-5D22-D506-0E4B-DC13A09E23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42143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BEB86548-AFE1-7654-F8B9-482999633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>
            <a:extLst>
              <a:ext uri="{FF2B5EF4-FFF2-40B4-BE49-F238E27FC236}">
                <a16:creationId xmlns:a16="http://schemas.microsoft.com/office/drawing/2014/main" id="{7BD97170-F624-493A-96FB-9ABDD8BBF6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>
            <a:extLst>
              <a:ext uri="{FF2B5EF4-FFF2-40B4-BE49-F238E27FC236}">
                <a16:creationId xmlns:a16="http://schemas.microsoft.com/office/drawing/2014/main" id="{E0A64099-3CB0-EB4A-F6BF-98A53DC669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04855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DCB50CAE-D6F7-5EF2-9F0E-850A57E25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>
            <a:extLst>
              <a:ext uri="{FF2B5EF4-FFF2-40B4-BE49-F238E27FC236}">
                <a16:creationId xmlns:a16="http://schemas.microsoft.com/office/drawing/2014/main" id="{CEE741AE-D123-4E2E-D5A1-F597978E10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703cb3a7b_0_64:notes">
            <a:extLst>
              <a:ext uri="{FF2B5EF4-FFF2-40B4-BE49-F238E27FC236}">
                <a16:creationId xmlns:a16="http://schemas.microsoft.com/office/drawing/2014/main" id="{6CBB28C3-201D-8E21-C487-9B2843AE68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85245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F4E12985-6E4C-BC30-AE86-65CEF8E13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>
            <a:extLst>
              <a:ext uri="{FF2B5EF4-FFF2-40B4-BE49-F238E27FC236}">
                <a16:creationId xmlns:a16="http://schemas.microsoft.com/office/drawing/2014/main" id="{9C2BA564-D229-CF49-EDE6-6C5A0F47AB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703cb3a7b_0_64:notes">
            <a:extLst>
              <a:ext uri="{FF2B5EF4-FFF2-40B4-BE49-F238E27FC236}">
                <a16:creationId xmlns:a16="http://schemas.microsoft.com/office/drawing/2014/main" id="{35C7571D-DFC6-6748-9DA4-93E4F27173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83266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647B6ECE-FDEA-DC34-8F38-7E2567468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>
            <a:extLst>
              <a:ext uri="{FF2B5EF4-FFF2-40B4-BE49-F238E27FC236}">
                <a16:creationId xmlns:a16="http://schemas.microsoft.com/office/drawing/2014/main" id="{3A8CC800-B61C-28DB-8A40-9565B225C0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703cb3a7b_0_64:notes">
            <a:extLst>
              <a:ext uri="{FF2B5EF4-FFF2-40B4-BE49-F238E27FC236}">
                <a16:creationId xmlns:a16="http://schemas.microsoft.com/office/drawing/2014/main" id="{E6CCE733-7A06-D4FB-1EED-40D27D2728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48713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E317B2A7-46CE-E08A-EAA7-3D52AECFE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>
            <a:extLst>
              <a:ext uri="{FF2B5EF4-FFF2-40B4-BE49-F238E27FC236}">
                <a16:creationId xmlns:a16="http://schemas.microsoft.com/office/drawing/2014/main" id="{164332CF-20A4-FB69-7A39-C0E022DACB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703cb3a7b_0_64:notes">
            <a:extLst>
              <a:ext uri="{FF2B5EF4-FFF2-40B4-BE49-F238E27FC236}">
                <a16:creationId xmlns:a16="http://schemas.microsoft.com/office/drawing/2014/main" id="{464EDC42-10AE-8A87-F9CD-C9893A2E28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1885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703ABDE8-6B3E-0497-D66B-987DA7A22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>
            <a:extLst>
              <a:ext uri="{FF2B5EF4-FFF2-40B4-BE49-F238E27FC236}">
                <a16:creationId xmlns:a16="http://schemas.microsoft.com/office/drawing/2014/main" id="{0C3D8E30-68B5-49A2-82D2-954D83925D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703cb3a7b_0_64:notes">
            <a:extLst>
              <a:ext uri="{FF2B5EF4-FFF2-40B4-BE49-F238E27FC236}">
                <a16:creationId xmlns:a16="http://schemas.microsoft.com/office/drawing/2014/main" id="{2BE7C57B-C1A8-6888-4EBF-B76ECDFFAC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53690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278EFFA1-A134-7CF9-7B01-6908F5919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>
            <a:extLst>
              <a:ext uri="{FF2B5EF4-FFF2-40B4-BE49-F238E27FC236}">
                <a16:creationId xmlns:a16="http://schemas.microsoft.com/office/drawing/2014/main" id="{C4D2085B-B219-4BD5-98B4-129B5CC51B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703cb3a7b_0_64:notes">
            <a:extLst>
              <a:ext uri="{FF2B5EF4-FFF2-40B4-BE49-F238E27FC236}">
                <a16:creationId xmlns:a16="http://schemas.microsoft.com/office/drawing/2014/main" id="{820B9283-0D83-13A6-9F2A-496583E68C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8813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-19689" t="41478" r="19690" b="227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1750" y="1958600"/>
            <a:ext cx="4280100" cy="26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1189750" y="1742900"/>
            <a:ext cx="2907600" cy="21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5046650" y="1742900"/>
            <a:ext cx="2907600" cy="21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title" hasCustomPrompt="1"/>
          </p:nvPr>
        </p:nvSpPr>
        <p:spPr>
          <a:xfrm>
            <a:off x="1070650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1609075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3" hasCustomPrompt="1"/>
          </p:nvPr>
        </p:nvSpPr>
        <p:spPr>
          <a:xfrm>
            <a:off x="1070650" y="21035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4"/>
          </p:nvPr>
        </p:nvSpPr>
        <p:spPr>
          <a:xfrm>
            <a:off x="1609075" y="2103524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5" hasCustomPrompt="1"/>
          </p:nvPr>
        </p:nvSpPr>
        <p:spPr>
          <a:xfrm>
            <a:off x="1070650" y="28397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6"/>
          </p:nvPr>
        </p:nvSpPr>
        <p:spPr>
          <a:xfrm>
            <a:off x="1609075" y="28397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7" hasCustomPrompt="1"/>
          </p:nvPr>
        </p:nvSpPr>
        <p:spPr>
          <a:xfrm>
            <a:off x="1070650" y="35759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8"/>
          </p:nvPr>
        </p:nvSpPr>
        <p:spPr>
          <a:xfrm>
            <a:off x="1609075" y="35759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9" hasCustomPrompt="1"/>
          </p:nvPr>
        </p:nvSpPr>
        <p:spPr>
          <a:xfrm>
            <a:off x="4927449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3"/>
          </p:nvPr>
        </p:nvSpPr>
        <p:spPr>
          <a:xfrm>
            <a:off x="5465950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14" hasCustomPrompt="1"/>
          </p:nvPr>
        </p:nvSpPr>
        <p:spPr>
          <a:xfrm>
            <a:off x="4927449" y="2103522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5"/>
          </p:nvPr>
        </p:nvSpPr>
        <p:spPr>
          <a:xfrm>
            <a:off x="5465950" y="2103519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16" hasCustomPrompt="1"/>
          </p:nvPr>
        </p:nvSpPr>
        <p:spPr>
          <a:xfrm>
            <a:off x="4927449" y="2839728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7"/>
          </p:nvPr>
        </p:nvSpPr>
        <p:spPr>
          <a:xfrm>
            <a:off x="5465950" y="2839721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8" hasCustomPrompt="1"/>
          </p:nvPr>
        </p:nvSpPr>
        <p:spPr>
          <a:xfrm>
            <a:off x="4927449" y="35759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9"/>
          </p:nvPr>
        </p:nvSpPr>
        <p:spPr>
          <a:xfrm>
            <a:off x="5465950" y="3575916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 rotWithShape="1">
          <a:blip r:embed="rId2">
            <a:alphaModFix/>
          </a:blip>
          <a:srcRect l="-50000" t="49600" r="50000" b="-584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>
            <a:spLocks noGrp="1"/>
          </p:cNvSpPr>
          <p:nvPr>
            <p:ph type="subTitle" idx="1"/>
          </p:nvPr>
        </p:nvSpPr>
        <p:spPr>
          <a:xfrm>
            <a:off x="715100" y="2046500"/>
            <a:ext cx="59301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2"/>
          </p:nvPr>
        </p:nvSpPr>
        <p:spPr>
          <a:xfrm>
            <a:off x="715100" y="3299000"/>
            <a:ext cx="59301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3"/>
          </p:nvPr>
        </p:nvSpPr>
        <p:spPr>
          <a:xfrm>
            <a:off x="715100" y="16667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ubTitle" idx="4"/>
          </p:nvPr>
        </p:nvSpPr>
        <p:spPr>
          <a:xfrm>
            <a:off x="715100" y="29192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0"/>
          <p:cNvPicPr preferRelativeResize="0"/>
          <p:nvPr/>
        </p:nvPicPr>
        <p:blipFill rotWithShape="1">
          <a:blip r:embed="rId2">
            <a:alphaModFix/>
          </a:blip>
          <a:srcRect l="-6643" t="13471" r="27548" b="-35825"/>
          <a:stretch/>
        </p:blipFill>
        <p:spPr>
          <a:xfrm flipH="1">
            <a:off x="-10680" y="-2437"/>
            <a:ext cx="332129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 flipH="1">
            <a:off x="-10680" y="-2437"/>
            <a:ext cx="9144080" cy="51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83700"/>
            <a:ext cx="7713900" cy="3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8" r:id="rId3"/>
    <p:sldLayoutId id="2147483659" r:id="rId4"/>
    <p:sldLayoutId id="2147483665" r:id="rId5"/>
    <p:sldLayoutId id="2147483676" r:id="rId6"/>
    <p:sldLayoutId id="214748367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louisyuzhe/car-damage-detector?utm_source=chatgpt.com" TargetMode="External"/><Relationship Id="rId3" Type="http://schemas.openxmlformats.org/officeDocument/2006/relationships/hyperlink" Target="https://docs.ultralytics.com/" TargetMode="External"/><Relationship Id="rId7" Type="http://schemas.openxmlformats.org/officeDocument/2006/relationships/hyperlink" Target="https://github.com/NabilNawa/YOLOv8-Vehicle-Damage-Detector?utm_source=chatgpt.com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ieeexplore.ieee.org/document/9284582" TargetMode="External"/><Relationship Id="rId5" Type="http://schemas.openxmlformats.org/officeDocument/2006/relationships/hyperlink" Target="https://arxiv.org/abs/2106.02159" TargetMode="External"/><Relationship Id="rId10" Type="http://schemas.openxmlformats.org/officeDocument/2006/relationships/hyperlink" Target="https://chat.openai.com/" TargetMode="External"/><Relationship Id="rId4" Type="http://schemas.openxmlformats.org/officeDocument/2006/relationships/hyperlink" Target="https://cardd-ustc.github.io/?utm_source=chatgpt.com" TargetMode="External"/><Relationship Id="rId9" Type="http://schemas.openxmlformats.org/officeDocument/2006/relationships/hyperlink" Target="https://www.researchgate.net/publication/392493928_Vehicle_Damage_Detection_Using_Artificial_Intelligence_A_Systematic_Literature_Review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>
            <a:spLocks noGrp="1"/>
          </p:cNvSpPr>
          <p:nvPr>
            <p:ph type="ctrTitle"/>
          </p:nvPr>
        </p:nvSpPr>
        <p:spPr>
          <a:xfrm>
            <a:off x="711750" y="1958600"/>
            <a:ext cx="7720650" cy="8618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sz="2400" dirty="0"/>
              <a:t>Sistem AI de detecție automată a daunelor auto pe baza analizei imaginii</a:t>
            </a:r>
            <a:endParaRPr sz="2400" dirty="0"/>
          </a:p>
        </p:txBody>
      </p:sp>
      <p:sp>
        <p:nvSpPr>
          <p:cNvPr id="191" name="Google Shape;191;p35"/>
          <p:cNvSpPr txBox="1">
            <a:spLocks noGrp="1"/>
          </p:cNvSpPr>
          <p:nvPr>
            <p:ph type="subTitle" idx="1"/>
          </p:nvPr>
        </p:nvSpPr>
        <p:spPr>
          <a:xfrm>
            <a:off x="3953814" y="535000"/>
            <a:ext cx="4478586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o-RO" sz="1200" dirty="0"/>
              <a:t>Proiect: Sisteme cu Inteligență Artificială (Rețele Neuronale)</a:t>
            </a:r>
            <a:endParaRPr sz="1200" b="1" dirty="0"/>
          </a:p>
        </p:txBody>
      </p:sp>
      <p:cxnSp>
        <p:nvCxnSpPr>
          <p:cNvPr id="192" name="Google Shape;192;p35">
            <a:hlinkClick r:id="" action="ppaction://hlinkshowjump?jump=nextslide"/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FA02227-52ED-84A1-267C-B50848D445A8}"/>
              </a:ext>
            </a:extLst>
          </p:cNvPr>
          <p:cNvSpPr txBox="1"/>
          <p:nvPr/>
        </p:nvSpPr>
        <p:spPr>
          <a:xfrm>
            <a:off x="4734106" y="3855873"/>
            <a:ext cx="36596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Autor:</a:t>
            </a:r>
            <a:r>
              <a:rPr lang="ro-RO" dirty="0"/>
              <a:t> Baba Cristian-Teodor, grupa 6</a:t>
            </a:r>
            <a:r>
              <a:rPr lang="en-US" dirty="0"/>
              <a:t>3</a:t>
            </a:r>
            <a:r>
              <a:rPr lang="ro-RO" dirty="0"/>
              <a:t>4AB</a:t>
            </a:r>
            <a:br>
              <a:rPr lang="ro-RO" dirty="0"/>
            </a:br>
            <a:r>
              <a:rPr lang="ro-RO" b="1" dirty="0"/>
              <a:t>Facultatea de Inginerie Industrială și Robotică – UPB</a:t>
            </a:r>
            <a:endParaRPr lang="ro-RO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>
            <a:spLocks noGrp="1"/>
          </p:cNvSpPr>
          <p:nvPr>
            <p:ph type="title"/>
          </p:nvPr>
        </p:nvSpPr>
        <p:spPr>
          <a:xfrm>
            <a:off x="1070650" y="1367325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07" name="Google Shape;207;p37"/>
          <p:cNvSpPr txBox="1">
            <a:spLocks noGrp="1"/>
          </p:cNvSpPr>
          <p:nvPr>
            <p:ph type="subTitle" idx="1"/>
          </p:nvPr>
        </p:nvSpPr>
        <p:spPr>
          <a:xfrm>
            <a:off x="1609075" y="1367325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o-RO" dirty="0"/>
              <a:t>Introducere și motivație</a:t>
            </a:r>
            <a:endParaRPr dirty="0"/>
          </a:p>
        </p:txBody>
      </p:sp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Cuprins</a:t>
            </a:r>
            <a:endParaRPr dirty="0"/>
          </a:p>
        </p:txBody>
      </p:sp>
      <p:sp>
        <p:nvSpPr>
          <p:cNvPr id="209" name="Google Shape;209;p37"/>
          <p:cNvSpPr txBox="1">
            <a:spLocks noGrp="1"/>
          </p:cNvSpPr>
          <p:nvPr>
            <p:ph type="title" idx="3"/>
          </p:nvPr>
        </p:nvSpPr>
        <p:spPr>
          <a:xfrm>
            <a:off x="1070650" y="2103525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0" name="Google Shape;210;p37"/>
          <p:cNvSpPr txBox="1">
            <a:spLocks noGrp="1"/>
          </p:cNvSpPr>
          <p:nvPr>
            <p:ph type="subTitle" idx="4"/>
          </p:nvPr>
        </p:nvSpPr>
        <p:spPr>
          <a:xfrm>
            <a:off x="1609075" y="2103533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o-RO" dirty="0"/>
              <a:t>Domeniul industrial și studiul de caz</a:t>
            </a:r>
            <a:endParaRPr dirty="0"/>
          </a:p>
        </p:txBody>
      </p:sp>
      <p:sp>
        <p:nvSpPr>
          <p:cNvPr id="211" name="Google Shape;211;p37"/>
          <p:cNvSpPr txBox="1">
            <a:spLocks noGrp="1"/>
          </p:cNvSpPr>
          <p:nvPr>
            <p:ph type="title" idx="5"/>
          </p:nvPr>
        </p:nvSpPr>
        <p:spPr>
          <a:xfrm>
            <a:off x="1070650" y="2839750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12" name="Google Shape;212;p37"/>
          <p:cNvSpPr txBox="1">
            <a:spLocks noGrp="1"/>
          </p:cNvSpPr>
          <p:nvPr>
            <p:ph type="subTitle" idx="6"/>
          </p:nvPr>
        </p:nvSpPr>
        <p:spPr>
          <a:xfrm>
            <a:off x="1609075" y="2839740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dirty="0"/>
              <a:t>Provocări actuale și nevoi identificate</a:t>
            </a:r>
            <a:endParaRPr dirty="0"/>
          </a:p>
        </p:txBody>
      </p:sp>
      <p:sp>
        <p:nvSpPr>
          <p:cNvPr id="213" name="Google Shape;213;p37"/>
          <p:cNvSpPr txBox="1">
            <a:spLocks noGrp="1"/>
          </p:cNvSpPr>
          <p:nvPr>
            <p:ph type="title" idx="7"/>
          </p:nvPr>
        </p:nvSpPr>
        <p:spPr>
          <a:xfrm>
            <a:off x="1070650" y="3575950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214" name="Google Shape;214;p37"/>
          <p:cNvSpPr txBox="1">
            <a:spLocks noGrp="1"/>
          </p:cNvSpPr>
          <p:nvPr>
            <p:ph type="subTitle" idx="8"/>
          </p:nvPr>
        </p:nvSpPr>
        <p:spPr>
          <a:xfrm>
            <a:off x="1609075" y="3575948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o-RO" dirty="0"/>
              <a:t>Prezentarea sistemului AI propus</a:t>
            </a:r>
            <a:endParaRPr dirty="0"/>
          </a:p>
        </p:txBody>
      </p:sp>
      <p:sp>
        <p:nvSpPr>
          <p:cNvPr id="215" name="Google Shape;215;p37"/>
          <p:cNvSpPr txBox="1">
            <a:spLocks noGrp="1"/>
          </p:cNvSpPr>
          <p:nvPr>
            <p:ph type="title" idx="9"/>
          </p:nvPr>
        </p:nvSpPr>
        <p:spPr>
          <a:xfrm>
            <a:off x="4927449" y="1367325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16" name="Google Shape;216;p37"/>
          <p:cNvSpPr txBox="1">
            <a:spLocks noGrp="1"/>
          </p:cNvSpPr>
          <p:nvPr>
            <p:ph type="subTitle" idx="13"/>
          </p:nvPr>
        </p:nvSpPr>
        <p:spPr>
          <a:xfrm>
            <a:off x="5465950" y="1367325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o-RO" dirty="0"/>
              <a:t>Arhitectura sistemului</a:t>
            </a:r>
            <a:endParaRPr dirty="0"/>
          </a:p>
        </p:txBody>
      </p:sp>
      <p:sp>
        <p:nvSpPr>
          <p:cNvPr id="217" name="Google Shape;217;p37"/>
          <p:cNvSpPr txBox="1">
            <a:spLocks noGrp="1"/>
          </p:cNvSpPr>
          <p:nvPr>
            <p:ph type="title" idx="14"/>
          </p:nvPr>
        </p:nvSpPr>
        <p:spPr>
          <a:xfrm>
            <a:off x="4927449" y="2103522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18" name="Google Shape;218;p37"/>
          <p:cNvSpPr txBox="1">
            <a:spLocks noGrp="1"/>
          </p:cNvSpPr>
          <p:nvPr>
            <p:ph type="subTitle" idx="15"/>
          </p:nvPr>
        </p:nvSpPr>
        <p:spPr>
          <a:xfrm>
            <a:off x="5465950" y="2103519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fr-FR" dirty="0" err="1"/>
              <a:t>Fluxul</a:t>
            </a:r>
            <a:r>
              <a:rPr lang="fr-FR" dirty="0"/>
              <a:t> de date </a:t>
            </a:r>
            <a:r>
              <a:rPr lang="fr-FR" dirty="0" err="1"/>
              <a:t>și</a:t>
            </a:r>
            <a:r>
              <a:rPr lang="fr-FR" dirty="0"/>
              <a:t> </a:t>
            </a:r>
            <a:r>
              <a:rPr lang="fr-FR" dirty="0" err="1"/>
              <a:t>tehnologiile</a:t>
            </a:r>
            <a:r>
              <a:rPr lang="fr-FR" dirty="0"/>
              <a:t> </a:t>
            </a:r>
            <a:r>
              <a:rPr lang="fr-FR" dirty="0" err="1"/>
              <a:t>utilizate</a:t>
            </a:r>
            <a:endParaRPr dirty="0"/>
          </a:p>
        </p:txBody>
      </p:sp>
      <p:sp>
        <p:nvSpPr>
          <p:cNvPr id="219" name="Google Shape;219;p37"/>
          <p:cNvSpPr txBox="1">
            <a:spLocks noGrp="1"/>
          </p:cNvSpPr>
          <p:nvPr>
            <p:ph type="title" idx="16"/>
          </p:nvPr>
        </p:nvSpPr>
        <p:spPr>
          <a:xfrm>
            <a:off x="4927449" y="2839728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220" name="Google Shape;220;p37"/>
          <p:cNvSpPr txBox="1">
            <a:spLocks noGrp="1"/>
          </p:cNvSpPr>
          <p:nvPr>
            <p:ph type="subTitle" idx="17"/>
          </p:nvPr>
        </p:nvSpPr>
        <p:spPr>
          <a:xfrm>
            <a:off x="5465950" y="2839721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o-RO" dirty="0"/>
              <a:t>Utilizatori și roluri</a:t>
            </a:r>
            <a:endParaRPr dirty="0"/>
          </a:p>
        </p:txBody>
      </p:sp>
      <p:sp>
        <p:nvSpPr>
          <p:cNvPr id="221" name="Google Shape;221;p37"/>
          <p:cNvSpPr txBox="1">
            <a:spLocks noGrp="1"/>
          </p:cNvSpPr>
          <p:nvPr>
            <p:ph type="title" idx="18"/>
          </p:nvPr>
        </p:nvSpPr>
        <p:spPr>
          <a:xfrm>
            <a:off x="4927449" y="3575925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08</a:t>
            </a:r>
            <a:endParaRPr/>
          </a:p>
        </p:txBody>
      </p:sp>
      <p:sp>
        <p:nvSpPr>
          <p:cNvPr id="222" name="Google Shape;222;p37"/>
          <p:cNvSpPr txBox="1">
            <a:spLocks noGrp="1"/>
          </p:cNvSpPr>
          <p:nvPr>
            <p:ph type="subTitle" idx="19"/>
          </p:nvPr>
        </p:nvSpPr>
        <p:spPr>
          <a:xfrm>
            <a:off x="5465950" y="3575916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o-RO" dirty="0"/>
              <a:t>Beneficii, rezultate și direcții viitoare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>
            <a:spLocks noGrp="1"/>
          </p:cNvSpPr>
          <p:nvPr>
            <p:ph type="subTitle" idx="1"/>
          </p:nvPr>
        </p:nvSpPr>
        <p:spPr>
          <a:xfrm>
            <a:off x="768738" y="1244122"/>
            <a:ext cx="7606524" cy="3182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sz="1400" dirty="0"/>
              <a:t>Sistemul </a:t>
            </a:r>
            <a:r>
              <a:rPr lang="ro-RO" sz="1400" b="1" dirty="0"/>
              <a:t>Car Damage Detector</a:t>
            </a:r>
            <a:r>
              <a:rPr lang="ro-RO" sz="1400" dirty="0"/>
              <a:t> este un model de detecție vizuală bazat pe YOLO11m,</a:t>
            </a:r>
            <a:endParaRPr lang="en-US" sz="1400" dirty="0"/>
          </a:p>
          <a:p>
            <a:r>
              <a:rPr lang="ro-RO" sz="1400" dirty="0"/>
              <a:t>construit pentru identificarea automată a daunelor auto. Scopul sistemului este</a:t>
            </a:r>
            <a:endParaRPr lang="en-US" sz="1400" dirty="0"/>
          </a:p>
          <a:p>
            <a:r>
              <a:rPr lang="ro-RO" sz="1400" dirty="0"/>
              <a:t>automatizarea procesului de inspecție </a:t>
            </a:r>
            <a:endParaRPr lang="en-US" sz="1400" dirty="0"/>
          </a:p>
          <a:p>
            <a:r>
              <a:rPr lang="ro-RO" sz="1400" dirty="0"/>
              <a:t>vizuală, reducerea timpului de evaluare și obținerea unor rezultate standardizate,</a:t>
            </a:r>
            <a:endParaRPr lang="en-US" sz="1400" dirty="0"/>
          </a:p>
          <a:p>
            <a:r>
              <a:rPr lang="ro-RO" sz="1400" dirty="0"/>
              <a:t>independente de operator.</a:t>
            </a:r>
            <a:endParaRPr lang="en-US" sz="1400" dirty="0"/>
          </a:p>
          <a:p>
            <a:endParaRPr lang="ro-RO" sz="1400" dirty="0"/>
          </a:p>
          <a:p>
            <a:pPr>
              <a:lnSpc>
                <a:spcPct val="200000"/>
              </a:lnSpc>
            </a:pPr>
            <a:r>
              <a:rPr lang="ro-RO" sz="1400" b="1" dirty="0"/>
              <a:t>Concepte cheie:</a:t>
            </a:r>
            <a:endParaRPr lang="ro-RO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detecție obiecte → daune auto (zgârieturi, lovituri, deformări, far spart);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analiză multi-view (față, spate, lateral stânga/dreapta);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predicții rapide, cu bounding-box &amp; score.</a:t>
            </a:r>
          </a:p>
        </p:txBody>
      </p:sp>
      <p:sp>
        <p:nvSpPr>
          <p:cNvPr id="250" name="Google Shape;250;p4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dirty="0"/>
              <a:t>Introducere și motivație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dirty="0"/>
              <a:t>Domeniul industrial și studiul de caz</a:t>
            </a:r>
            <a:endParaRPr dirty="0"/>
          </a:p>
        </p:txBody>
      </p:sp>
      <p:sp>
        <p:nvSpPr>
          <p:cNvPr id="18" name="Google Shape;249;p41">
            <a:extLst>
              <a:ext uri="{FF2B5EF4-FFF2-40B4-BE49-F238E27FC236}">
                <a16:creationId xmlns:a16="http://schemas.microsoft.com/office/drawing/2014/main" id="{70E74F62-6E75-1F92-CCD0-5B5A8884C69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8738" y="1244122"/>
            <a:ext cx="7606524" cy="3182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ro-RO" sz="1400" b="1" dirty="0"/>
              <a:t>Domeniul industrial de interes (DII)</a:t>
            </a:r>
            <a:endParaRPr lang="en-US" sz="1400" b="1" dirty="0"/>
          </a:p>
          <a:p>
            <a:r>
              <a:rPr lang="ro-RO" sz="1400" dirty="0"/>
              <a:t>Automotive AI – detecția automată a daunelor auto prin analiză de imagine.</a:t>
            </a:r>
          </a:p>
          <a:p>
            <a:endParaRPr lang="en-US" sz="1400" b="1" dirty="0"/>
          </a:p>
          <a:p>
            <a:pPr>
              <a:lnSpc>
                <a:spcPct val="200000"/>
              </a:lnSpc>
            </a:pPr>
            <a:r>
              <a:rPr lang="ro-RO" sz="1400" b="1" dirty="0"/>
              <a:t>Studiu de caz</a:t>
            </a:r>
            <a:endParaRPr lang="en-US" sz="1400" b="1" dirty="0"/>
          </a:p>
          <a:p>
            <a:r>
              <a:rPr lang="ro-RO" sz="1400" dirty="0"/>
              <a:t>Evaluarea vizuală a vehiculelor folosind imagini din 4 unghiuri, procesate cu YOLO11m</a:t>
            </a:r>
            <a:endParaRPr lang="en-US" sz="1400" dirty="0"/>
          </a:p>
          <a:p>
            <a:r>
              <a:rPr lang="ro-RO" sz="1400" dirty="0"/>
              <a:t>pentru identificarea zgârieturilor, loviturilor și deformărilor.</a:t>
            </a:r>
          </a:p>
          <a:p>
            <a:endParaRPr lang="en-US" sz="1400" b="1" dirty="0"/>
          </a:p>
          <a:p>
            <a:pPr>
              <a:lnSpc>
                <a:spcPct val="200000"/>
              </a:lnSpc>
            </a:pPr>
            <a:r>
              <a:rPr lang="ro-RO" sz="1400" b="1" dirty="0"/>
              <a:t>Relevanță industrială</a:t>
            </a:r>
            <a:endParaRPr lang="en-US" sz="1400" b="1" dirty="0"/>
          </a:p>
          <a:p>
            <a:r>
              <a:rPr lang="ro-RO" sz="1400" dirty="0"/>
              <a:t>Aplicabil în service-uri, asigurări, rent-a-car și flote auto pentru inspecții rapide,</a:t>
            </a:r>
            <a:endParaRPr lang="en-US" sz="1400" dirty="0"/>
          </a:p>
          <a:p>
            <a:r>
              <a:rPr lang="ro-RO" sz="1400" dirty="0"/>
              <a:t>standardizate și fără erori umane.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45F0E970-447E-9257-CF52-71CE9F76D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>
            <a:extLst>
              <a:ext uri="{FF2B5EF4-FFF2-40B4-BE49-F238E27FC236}">
                <a16:creationId xmlns:a16="http://schemas.microsoft.com/office/drawing/2014/main" id="{199D2EDB-2285-FF66-2E0C-5ECAC1B1F9C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8738" y="1083700"/>
            <a:ext cx="7606524" cy="3182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ro-RO" sz="1400" b="1" dirty="0"/>
              <a:t>Probleme actual</a:t>
            </a: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Evaluarea daunelor se face manual → rezultate subiective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Timp mare de analiză pentru fiecare vehicul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Zgârieturile fine sunt greu de identificat în condiții variate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Lipsa unui proces standardizat între service-uri / asiguratori</a:t>
            </a:r>
          </a:p>
          <a:p>
            <a:pPr>
              <a:lnSpc>
                <a:spcPct val="200000"/>
              </a:lnSpc>
            </a:pPr>
            <a:r>
              <a:rPr lang="ro-RO" sz="1400" b="1" dirty="0"/>
              <a:t>Tendințe actuale</a:t>
            </a: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Utilizarea modelelor YOLO pentru detecție obiecte în automotive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Creșterea cererii pentru inspecție vizuală automată în service-uri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Procesare AI locală pentru analize rapide și costuri reduse</a:t>
            </a:r>
          </a:p>
          <a:p>
            <a:pPr>
              <a:lnSpc>
                <a:spcPct val="200000"/>
              </a:lnSpc>
            </a:pPr>
            <a:r>
              <a:rPr lang="ro-RO" sz="1400" b="1" dirty="0"/>
              <a:t>Nevoi identificate</a:t>
            </a: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Sistem automat capabil să detecteze daune mici și medii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Suport multi-view (față/spate/lateral) pentru inspecții complete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Reducerea timpului de evaluare și eliminarea erorilor umane</a:t>
            </a:r>
          </a:p>
        </p:txBody>
      </p:sp>
      <p:sp>
        <p:nvSpPr>
          <p:cNvPr id="250" name="Google Shape;250;p41">
            <a:extLst>
              <a:ext uri="{FF2B5EF4-FFF2-40B4-BE49-F238E27FC236}">
                <a16:creationId xmlns:a16="http://schemas.microsoft.com/office/drawing/2014/main" id="{2F184EEC-06C7-D82A-03A2-9CD4E47E68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/>
              <a:t>Provocări actuale și nevoi identificate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93312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294C7C6A-DF6E-40DD-468D-B773516F2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>
            <a:extLst>
              <a:ext uri="{FF2B5EF4-FFF2-40B4-BE49-F238E27FC236}">
                <a16:creationId xmlns:a16="http://schemas.microsoft.com/office/drawing/2014/main" id="{94DCEBF5-471B-5BFF-1034-72C775B439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dirty="0"/>
              <a:t>Prezentarea sistemului AI propus</a:t>
            </a:r>
            <a:endParaRPr dirty="0"/>
          </a:p>
        </p:txBody>
      </p:sp>
      <p:sp>
        <p:nvSpPr>
          <p:cNvPr id="18" name="Google Shape;249;p41">
            <a:extLst>
              <a:ext uri="{FF2B5EF4-FFF2-40B4-BE49-F238E27FC236}">
                <a16:creationId xmlns:a16="http://schemas.microsoft.com/office/drawing/2014/main" id="{0F4411A8-7A73-298A-D4F3-BABC6925D63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8738" y="1083700"/>
            <a:ext cx="7606524" cy="3182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ro-RO" sz="1400" b="1" dirty="0"/>
              <a:t>Descriere generală</a:t>
            </a:r>
            <a:endParaRPr lang="en-US" sz="1400" b="1" dirty="0"/>
          </a:p>
          <a:p>
            <a:r>
              <a:rPr lang="ro-RO" sz="1400" dirty="0"/>
              <a:t>Sistemul Car Damage Detector utilizează modelul YOLO11m pentru identificarea</a:t>
            </a:r>
            <a:endParaRPr lang="en-US" sz="1400" dirty="0"/>
          </a:p>
          <a:p>
            <a:r>
              <a:rPr lang="ro-RO" sz="1400" dirty="0"/>
              <a:t>automată adaunelor auto pe baza imaginilor capturate din mai multe unghiuri. Soluția</a:t>
            </a:r>
            <a:endParaRPr lang="en-US" sz="1400" dirty="0"/>
          </a:p>
          <a:p>
            <a:r>
              <a:rPr lang="en-US" sz="1400" dirty="0"/>
              <a:t>a</a:t>
            </a:r>
            <a:r>
              <a:rPr lang="ro-RO" sz="1400" dirty="0"/>
              <a:t>utomatizează</a:t>
            </a:r>
            <a:r>
              <a:rPr lang="en-US" sz="1400" dirty="0"/>
              <a:t> </a:t>
            </a:r>
            <a:r>
              <a:rPr lang="ro-RO" sz="1400" dirty="0"/>
              <a:t>procesul</a:t>
            </a:r>
            <a:r>
              <a:rPr lang="en-US" sz="1400" dirty="0"/>
              <a:t> </a:t>
            </a:r>
            <a:r>
              <a:rPr lang="ro-RO" sz="1400" dirty="0"/>
              <a:t>de inspecție vizuală și oferă o evaluare standardizată a </a:t>
            </a:r>
            <a:endParaRPr lang="en-US" sz="1400" dirty="0"/>
          </a:p>
          <a:p>
            <a:r>
              <a:rPr lang="ro-RO" sz="1400" dirty="0"/>
              <a:t>caroseriei.</a:t>
            </a:r>
          </a:p>
          <a:p>
            <a:pPr>
              <a:lnSpc>
                <a:spcPct val="200000"/>
              </a:lnSpc>
            </a:pPr>
            <a:r>
              <a:rPr lang="ro-RO" sz="1400" b="1" dirty="0"/>
              <a:t>Mod de funcționare</a:t>
            </a:r>
            <a:endParaRPr lang="ro-RO" sz="1400" dirty="0"/>
          </a:p>
          <a:p>
            <a:pPr marL="495300" indent="-342900">
              <a:buFont typeface="+mj-lt"/>
              <a:buAutoNum type="arabicPeriod"/>
            </a:pPr>
            <a:r>
              <a:rPr lang="ro-RO" sz="1400" dirty="0"/>
              <a:t>Utilizatorul încarcă imaginile vehiculului (față, spate, laterale).</a:t>
            </a:r>
          </a:p>
          <a:p>
            <a:pPr marL="495300" indent="-342900">
              <a:buFont typeface="+mj-lt"/>
              <a:buAutoNum type="arabicPeriod"/>
            </a:pPr>
            <a:r>
              <a:rPr lang="ro-RO" sz="1400" dirty="0"/>
              <a:t>Modelul YOLO11m procesează fiecare imagine și detectează tipurile de daune.</a:t>
            </a:r>
          </a:p>
          <a:p>
            <a:pPr marL="495300" indent="-342900">
              <a:buFont typeface="+mj-lt"/>
              <a:buAutoNum type="arabicPeriod"/>
            </a:pPr>
            <a:r>
              <a:rPr lang="ro-RO" sz="1400" dirty="0"/>
              <a:t>Se generează bounding boxes și scoruri de încredere pentru fiecare daună.</a:t>
            </a:r>
          </a:p>
          <a:p>
            <a:pPr marL="495300" indent="-342900">
              <a:buFont typeface="+mj-lt"/>
              <a:buAutoNum type="arabicPeriod"/>
            </a:pPr>
            <a:r>
              <a:rPr lang="ro-RO" sz="1400" dirty="0"/>
              <a:t>Rezultatele sunt afișate în interfață și pot fi agregate într-un raport final.</a:t>
            </a:r>
          </a:p>
          <a:p>
            <a:pPr>
              <a:lnSpc>
                <a:spcPct val="200000"/>
              </a:lnSpc>
            </a:pPr>
            <a:r>
              <a:rPr lang="ro-RO" sz="1400" b="1" dirty="0"/>
              <a:t>Avantaje principale</a:t>
            </a:r>
            <a:endParaRPr lang="en-US" sz="1400" b="1" dirty="0"/>
          </a:p>
          <a:p>
            <a:r>
              <a:rPr lang="ro-RO" sz="1400" dirty="0"/>
              <a:t>Detecție rapidă, acuratețe ridicată pentru obiecte mici, analiză multi-view și posibilitatea </a:t>
            </a:r>
            <a:endParaRPr lang="en-US" sz="1400" dirty="0"/>
          </a:p>
          <a:p>
            <a:r>
              <a:rPr lang="en-US" sz="1400" dirty="0"/>
              <a:t>e</a:t>
            </a:r>
            <a:r>
              <a:rPr lang="ro-RO" sz="1400" dirty="0"/>
              <a:t>xtinderii</a:t>
            </a:r>
            <a:r>
              <a:rPr lang="en-US" sz="1400" dirty="0"/>
              <a:t> </a:t>
            </a:r>
            <a:r>
              <a:rPr lang="ro-RO" sz="1400" dirty="0"/>
              <a:t>către estimarea costurilor de reparație.</a:t>
            </a:r>
          </a:p>
        </p:txBody>
      </p:sp>
    </p:spTree>
    <p:extLst>
      <p:ext uri="{BB962C8B-B14F-4D97-AF65-F5344CB8AC3E}">
        <p14:creationId xmlns:p14="http://schemas.microsoft.com/office/powerpoint/2010/main" val="2399527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77C7B7A7-64DB-1146-3247-3D9FF8FF4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>
            <a:extLst>
              <a:ext uri="{FF2B5EF4-FFF2-40B4-BE49-F238E27FC236}">
                <a16:creationId xmlns:a16="http://schemas.microsoft.com/office/drawing/2014/main" id="{B449B155-7792-9FF7-5BD2-A7668F03638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8738" y="1244122"/>
            <a:ext cx="7606524" cy="3182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ro-RO" sz="1400" b="1" dirty="0"/>
              <a:t>Componente hardware</a:t>
            </a: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Arhitectura sistemului permite procesarea locală rapidă a imaginilor cu daune auto: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Laptop/PC cu GPU NVIDIA pentru rularea modelului YOLO11m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Cameră foto / smartphone pentru captură imagini multi-view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Stocare locală pentru imaginile procesate </a:t>
            </a:r>
            <a:r>
              <a:rPr lang="ro-RO" sz="1400" b="1" dirty="0"/>
              <a:t>(data/raw/cardd)</a:t>
            </a:r>
          </a:p>
          <a:p>
            <a:pPr>
              <a:lnSpc>
                <a:spcPct val="200000"/>
              </a:lnSpc>
            </a:pPr>
            <a:r>
              <a:rPr lang="ro-RO" sz="1400" b="1" dirty="0"/>
              <a:t>Componente software</a:t>
            </a: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b="1" dirty="0"/>
              <a:t>Preprocesare imagini: </a:t>
            </a:r>
            <a:r>
              <a:rPr lang="ro-RO" sz="1400" dirty="0"/>
              <a:t>OpenCV (resize, conversie, normalizare)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b="1" dirty="0"/>
              <a:t>Detecție daune: </a:t>
            </a:r>
            <a:r>
              <a:rPr lang="ro-RO" sz="1400" dirty="0"/>
              <a:t>model YOLO11m (Ultralytics)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b="1" dirty="0"/>
              <a:t>Backend: </a:t>
            </a:r>
            <a:r>
              <a:rPr lang="ro-RO" sz="1400" dirty="0"/>
              <a:t>Python + Flask/FastAPI pentru inferență și API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b="1" dirty="0"/>
              <a:t>UI Web: </a:t>
            </a:r>
            <a:r>
              <a:rPr lang="ro-RO" sz="1400" dirty="0"/>
              <a:t>HTML/CSS/JS pentru upload și vizualizarea rezultatelor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b="1" dirty="0"/>
              <a:t>Structură date: </a:t>
            </a:r>
            <a:r>
              <a:rPr lang="ro-RO" sz="1400" dirty="0"/>
              <a:t>foldere train/val/test pentru model și runs/detect pentru predicții</a:t>
            </a:r>
          </a:p>
        </p:txBody>
      </p:sp>
      <p:sp>
        <p:nvSpPr>
          <p:cNvPr id="250" name="Google Shape;250;p41">
            <a:extLst>
              <a:ext uri="{FF2B5EF4-FFF2-40B4-BE49-F238E27FC236}">
                <a16:creationId xmlns:a16="http://schemas.microsoft.com/office/drawing/2014/main" id="{547ECB89-8BD0-0B35-8C8C-DF64D7A274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dirty="0"/>
              <a:t>Arhitectura sistemului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2018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3BFA9F11-8FC9-E81B-E4EE-3429D790D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>
            <a:extLst>
              <a:ext uri="{FF2B5EF4-FFF2-40B4-BE49-F238E27FC236}">
                <a16:creationId xmlns:a16="http://schemas.microsoft.com/office/drawing/2014/main" id="{24FB3893-7A14-9887-1F37-841CF4B905B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8738" y="1244122"/>
            <a:ext cx="7606524" cy="3182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ro-RO" sz="1400" b="1" dirty="0"/>
              <a:t>Interfață utilizator</a:t>
            </a:r>
            <a:endParaRPr lang="en-US" sz="1400" b="1" dirty="0"/>
          </a:p>
          <a:p>
            <a:r>
              <a:rPr lang="ro-RO" sz="1400" dirty="0"/>
              <a:t>Interfața este o aplicație web (HTML/CSS/JS) care permite: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încărcarea imaginilor din cele 4 unghiuri;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vizualizarea daunelor detectate cu bounding boxes;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descărcarea rezultatelor și generarea unui raport simplificat.</a:t>
            </a:r>
          </a:p>
          <a:p>
            <a:pPr>
              <a:lnSpc>
                <a:spcPct val="200000"/>
              </a:lnSpc>
            </a:pPr>
            <a:r>
              <a:rPr lang="ro-RO" sz="1400" b="1" dirty="0"/>
              <a:t>Flux de date</a:t>
            </a:r>
            <a:endParaRPr lang="en-US" sz="1400" b="1" dirty="0"/>
          </a:p>
          <a:p>
            <a:r>
              <a:rPr lang="ro-RO" sz="1400" dirty="0"/>
              <a:t>Utilizatorul încarcă imaginile → serverul procesează pozele prin YOLO11m → modelul</a:t>
            </a:r>
            <a:endParaRPr lang="en-US" sz="1400" dirty="0"/>
          </a:p>
          <a:p>
            <a:r>
              <a:rPr lang="ro-RO" sz="1400" dirty="0"/>
              <a:t>returnează clasele și coordonatele daunelor → UI afișează predicțiile.</a:t>
            </a:r>
          </a:p>
          <a:p>
            <a:pPr>
              <a:lnSpc>
                <a:spcPct val="200000"/>
              </a:lnSpc>
            </a:pPr>
            <a:r>
              <a:rPr lang="ro-RO" sz="1400" b="1" dirty="0"/>
              <a:t>Securitate și comunicare</a:t>
            </a:r>
            <a:endParaRPr lang="en-US" sz="1400" b="1" dirty="0"/>
          </a:p>
          <a:p>
            <a:r>
              <a:rPr lang="ro-RO" sz="1400" dirty="0"/>
              <a:t>Componentele comunică prin API-uri REST, iar imaginile sunt procesate local. Sistemul</a:t>
            </a:r>
            <a:endParaRPr lang="en-US" sz="1400" dirty="0"/>
          </a:p>
          <a:p>
            <a:r>
              <a:rPr lang="ro-RO" sz="1400" dirty="0"/>
              <a:t>nu necesită</a:t>
            </a:r>
            <a:r>
              <a:rPr lang="en-US" sz="1400" dirty="0"/>
              <a:t> </a:t>
            </a:r>
            <a:r>
              <a:rPr lang="ro-RO" sz="1400" dirty="0"/>
              <a:t>conexiune externă, asigurând confidențialitatea datelor încărcate.</a:t>
            </a:r>
          </a:p>
        </p:txBody>
      </p:sp>
      <p:sp>
        <p:nvSpPr>
          <p:cNvPr id="250" name="Google Shape;250;p41">
            <a:extLst>
              <a:ext uri="{FF2B5EF4-FFF2-40B4-BE49-F238E27FC236}">
                <a16:creationId xmlns:a16="http://schemas.microsoft.com/office/drawing/2014/main" id="{709EE5C4-AFB9-63D1-FD4B-4A75377D0C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dirty="0"/>
              <a:t>Arhitectura sistemului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8974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62E88AFF-D097-C49C-2839-2AD27AAFE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>
            <a:extLst>
              <a:ext uri="{FF2B5EF4-FFF2-40B4-BE49-F238E27FC236}">
                <a16:creationId xmlns:a16="http://schemas.microsoft.com/office/drawing/2014/main" id="{6673475C-2659-267B-8ED0-491E0646C7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 err="1"/>
              <a:t>Fluxul</a:t>
            </a:r>
            <a:r>
              <a:rPr lang="fr-FR" dirty="0"/>
              <a:t> de date </a:t>
            </a:r>
            <a:r>
              <a:rPr lang="fr-FR" dirty="0" err="1"/>
              <a:t>și</a:t>
            </a:r>
            <a:r>
              <a:rPr lang="fr-FR" dirty="0"/>
              <a:t> </a:t>
            </a:r>
            <a:r>
              <a:rPr lang="fr-FR" dirty="0" err="1"/>
              <a:t>tehnologiile</a:t>
            </a:r>
            <a:r>
              <a:rPr lang="fr-FR" dirty="0"/>
              <a:t> </a:t>
            </a:r>
            <a:r>
              <a:rPr lang="fr-FR" dirty="0" err="1"/>
              <a:t>utilizate</a:t>
            </a:r>
            <a:endParaRPr dirty="0"/>
          </a:p>
        </p:txBody>
      </p:sp>
      <p:sp>
        <p:nvSpPr>
          <p:cNvPr id="18" name="Google Shape;249;p41">
            <a:extLst>
              <a:ext uri="{FF2B5EF4-FFF2-40B4-BE49-F238E27FC236}">
                <a16:creationId xmlns:a16="http://schemas.microsoft.com/office/drawing/2014/main" id="{6A707255-4850-76BA-CE50-6856957D1D7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8738" y="1244122"/>
            <a:ext cx="7606524" cy="3182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ro-RO" sz="1400" b="1" dirty="0"/>
              <a:t>Structura datelor de intrare</a:t>
            </a:r>
            <a:endParaRPr lang="ro-RO" sz="1400" dirty="0"/>
          </a:p>
          <a:p>
            <a:pPr marL="495300" indent="-342900">
              <a:buFont typeface="+mj-lt"/>
              <a:buAutoNum type="arabicPeriod"/>
            </a:pPr>
            <a:r>
              <a:rPr lang="ro-RO" sz="1400" dirty="0"/>
              <a:t>Imagini statice (.jpg/.png) cu vehiculul din 4 unghiuri (față, spate, stânga, dreapta).</a:t>
            </a:r>
          </a:p>
          <a:p>
            <a:pPr marL="495300" indent="-342900">
              <a:buFont typeface="+mj-lt"/>
              <a:buAutoNum type="arabicPeriod"/>
            </a:pPr>
            <a:r>
              <a:rPr lang="ro-RO" sz="1400" dirty="0"/>
              <a:t>Fiecare imagine este folosită ca input pentru detecția YOLO11m.</a:t>
            </a:r>
          </a:p>
          <a:p>
            <a:pPr marL="495300" indent="-342900">
              <a:buFont typeface="+mj-lt"/>
              <a:buAutoNum type="arabicPeriod"/>
            </a:pPr>
            <a:r>
              <a:rPr lang="ro-RO" sz="1400" dirty="0"/>
              <a:t>Fișiere asociate YOLO: imagine + etichetă (.txt) cu coordonate și clasă.</a:t>
            </a:r>
          </a:p>
          <a:p>
            <a:pPr marL="495300" indent="-342900">
              <a:buFont typeface="+mj-lt"/>
              <a:buAutoNum type="arabicPeriod"/>
            </a:pPr>
            <a:r>
              <a:rPr lang="ro-RO" sz="1400" dirty="0"/>
              <a:t>Rezultatele sunt salvate sub formă de bounding boxes și scoruri de încredere.</a:t>
            </a:r>
          </a:p>
          <a:p>
            <a:pPr>
              <a:lnSpc>
                <a:spcPct val="200000"/>
              </a:lnSpc>
            </a:pPr>
            <a:r>
              <a:rPr lang="ro-RO" sz="1400" b="1" dirty="0"/>
              <a:t>Surse și organizare</a:t>
            </a:r>
            <a:endParaRPr lang="en-US" sz="1400" b="1" dirty="0"/>
          </a:p>
          <a:p>
            <a:r>
              <a:rPr lang="ro-RO" sz="1400" dirty="0"/>
              <a:t>Datele sunt structurate în format YOLO în directoarele:</a:t>
            </a:r>
            <a:endParaRPr lang="en-US" sz="1400" dirty="0"/>
          </a:p>
          <a:p>
            <a:r>
              <a:rPr lang="ro-RO" sz="1400" dirty="0"/>
              <a:t>data/raw/cardd/train, data/raw/cardd/val, data/raw/cardd/test.</a:t>
            </a:r>
            <a:endParaRPr lang="en-US" sz="1400" dirty="0"/>
          </a:p>
          <a:p>
            <a:r>
              <a:rPr lang="ro-RO" sz="1400" dirty="0"/>
              <a:t>Seturile sunt utilizate pentru antrenare, validare și testare, asigurând consistența și</a:t>
            </a:r>
            <a:endParaRPr lang="en-US" sz="1400" dirty="0"/>
          </a:p>
          <a:p>
            <a:r>
              <a:rPr lang="ro-RO" sz="1400" dirty="0"/>
              <a:t>evaluarea corectă a</a:t>
            </a:r>
            <a:r>
              <a:rPr lang="en-US" sz="1400" dirty="0"/>
              <a:t> </a:t>
            </a:r>
            <a:r>
              <a:rPr lang="ro-RO" sz="1400" dirty="0"/>
              <a:t>modelului.</a:t>
            </a:r>
          </a:p>
        </p:txBody>
      </p:sp>
    </p:spTree>
    <p:extLst>
      <p:ext uri="{BB962C8B-B14F-4D97-AF65-F5344CB8AC3E}">
        <p14:creationId xmlns:p14="http://schemas.microsoft.com/office/powerpoint/2010/main" val="2701694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121D5919-8733-DA9D-41C6-AC3E428FF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>
            <a:extLst>
              <a:ext uri="{FF2B5EF4-FFF2-40B4-BE49-F238E27FC236}">
                <a16:creationId xmlns:a16="http://schemas.microsoft.com/office/drawing/2014/main" id="{77069E3E-C379-AA40-BB3A-497ADB1600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 err="1"/>
              <a:t>Fluxul</a:t>
            </a:r>
            <a:r>
              <a:rPr lang="fr-FR" dirty="0"/>
              <a:t> de date </a:t>
            </a:r>
            <a:r>
              <a:rPr lang="fr-FR" dirty="0" err="1"/>
              <a:t>și</a:t>
            </a:r>
            <a:r>
              <a:rPr lang="fr-FR" dirty="0"/>
              <a:t> </a:t>
            </a:r>
            <a:r>
              <a:rPr lang="fr-FR" dirty="0" err="1"/>
              <a:t>tehnologiile</a:t>
            </a:r>
            <a:r>
              <a:rPr lang="fr-FR" dirty="0"/>
              <a:t> </a:t>
            </a:r>
            <a:r>
              <a:rPr lang="fr-FR" dirty="0" err="1"/>
              <a:t>utilizate</a:t>
            </a:r>
            <a:endParaRPr dirty="0"/>
          </a:p>
        </p:txBody>
      </p:sp>
      <p:sp>
        <p:nvSpPr>
          <p:cNvPr id="18" name="Google Shape;249;p41">
            <a:extLst>
              <a:ext uri="{FF2B5EF4-FFF2-40B4-BE49-F238E27FC236}">
                <a16:creationId xmlns:a16="http://schemas.microsoft.com/office/drawing/2014/main" id="{198D4564-3706-649D-1F69-7FFEF411E92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8738" y="1244122"/>
            <a:ext cx="7606524" cy="3182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sz="1400" b="1" dirty="0"/>
              <a:t>Etapele fluxului de procesare</a:t>
            </a:r>
            <a:endParaRPr lang="ro-RO" sz="1400" dirty="0"/>
          </a:p>
          <a:p>
            <a:pPr>
              <a:lnSpc>
                <a:spcPct val="150000"/>
              </a:lnSpc>
            </a:pPr>
            <a:r>
              <a:rPr lang="ro-RO" sz="1400" b="1" dirty="0"/>
              <a:t>Achiziție:</a:t>
            </a:r>
            <a:r>
              <a:rPr lang="ro-RO" sz="1400" dirty="0"/>
              <a:t> utilizatorul încarcă imaginile vehiculului (față, spate, laterale).</a:t>
            </a:r>
          </a:p>
          <a:p>
            <a:pPr>
              <a:lnSpc>
                <a:spcPct val="150000"/>
              </a:lnSpc>
            </a:pPr>
            <a:r>
              <a:rPr lang="ro-RO" sz="1400" b="1" dirty="0"/>
              <a:t>Preprocesare:</a:t>
            </a:r>
            <a:r>
              <a:rPr lang="ro-RO" sz="1400" dirty="0"/>
              <a:t> imaginile sunt redimensionate la 640×640 px și normalizate.</a:t>
            </a:r>
          </a:p>
          <a:p>
            <a:pPr>
              <a:lnSpc>
                <a:spcPct val="150000"/>
              </a:lnSpc>
            </a:pPr>
            <a:r>
              <a:rPr lang="ro-RO" sz="1400" b="1" dirty="0"/>
              <a:t>Detecție:</a:t>
            </a:r>
            <a:r>
              <a:rPr lang="ro-RO" sz="1400" dirty="0"/>
              <a:t> YOLO11m procesează fiecare imagine și generează clase + bounding boxes.</a:t>
            </a:r>
          </a:p>
          <a:p>
            <a:pPr>
              <a:lnSpc>
                <a:spcPct val="150000"/>
              </a:lnSpc>
            </a:pPr>
            <a:r>
              <a:rPr lang="ro-RO" sz="1400" b="1" dirty="0"/>
              <a:t>Filtrare:</a:t>
            </a:r>
            <a:r>
              <a:rPr lang="ro-RO" sz="1400" dirty="0"/>
              <a:t> se aplică NMS (Non-Maximum Suppression) pentru eliminarea detecțiilor </a:t>
            </a:r>
            <a:endParaRPr lang="en-US" sz="1400" dirty="0"/>
          </a:p>
          <a:p>
            <a:r>
              <a:rPr lang="ro-RO" sz="1400" dirty="0"/>
              <a:t>redundante.</a:t>
            </a:r>
          </a:p>
          <a:p>
            <a:pPr>
              <a:lnSpc>
                <a:spcPct val="150000"/>
              </a:lnSpc>
            </a:pPr>
            <a:r>
              <a:rPr lang="ro-RO" sz="1400" b="1" dirty="0"/>
              <a:t>Agregare:</a:t>
            </a:r>
            <a:r>
              <a:rPr lang="ro-RO" sz="1400" dirty="0"/>
              <a:t> rezultatele din toate unghiurile sunt combinate într-un raport final.</a:t>
            </a:r>
          </a:p>
          <a:p>
            <a:pPr>
              <a:lnSpc>
                <a:spcPct val="150000"/>
              </a:lnSpc>
            </a:pPr>
            <a:r>
              <a:rPr lang="ro-RO" sz="1400" b="1" dirty="0"/>
              <a:t>Output:</a:t>
            </a:r>
            <a:r>
              <a:rPr lang="ro-RO" sz="1400" dirty="0"/>
              <a:t> UI afișează daunele detectate cu scorurile de încredere.</a:t>
            </a:r>
          </a:p>
          <a:p>
            <a:pPr>
              <a:lnSpc>
                <a:spcPct val="150000"/>
              </a:lnSpc>
            </a:pPr>
            <a:r>
              <a:rPr lang="ro-RO" sz="1400" b="1" dirty="0"/>
              <a:t>Flux logic YOLO</a:t>
            </a:r>
            <a:endParaRPr lang="en-US" sz="1400" b="1" dirty="0"/>
          </a:p>
          <a:p>
            <a:pPr>
              <a:lnSpc>
                <a:spcPct val="150000"/>
              </a:lnSpc>
            </a:pPr>
            <a:r>
              <a:rPr lang="ro-RO" dirty="0"/>
              <a:t>Imagine → Preprocesare → YOLO11m → NMS → Predicții (clasă + scor + bbox) → Afișare în UI</a:t>
            </a:r>
          </a:p>
        </p:txBody>
      </p:sp>
    </p:spTree>
    <p:extLst>
      <p:ext uri="{BB962C8B-B14F-4D97-AF65-F5344CB8AC3E}">
        <p14:creationId xmlns:p14="http://schemas.microsoft.com/office/powerpoint/2010/main" val="2603868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ED970AA6-99A6-AD98-8132-96A111E3F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>
            <a:extLst>
              <a:ext uri="{FF2B5EF4-FFF2-40B4-BE49-F238E27FC236}">
                <a16:creationId xmlns:a16="http://schemas.microsoft.com/office/drawing/2014/main" id="{8EE061FC-60C2-E557-198D-CC357E6D73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 err="1"/>
              <a:t>Fluxul</a:t>
            </a:r>
            <a:r>
              <a:rPr lang="fr-FR" dirty="0"/>
              <a:t> de date </a:t>
            </a:r>
            <a:r>
              <a:rPr lang="fr-FR" dirty="0" err="1"/>
              <a:t>și</a:t>
            </a:r>
            <a:r>
              <a:rPr lang="fr-FR" dirty="0"/>
              <a:t> </a:t>
            </a:r>
            <a:r>
              <a:rPr lang="fr-FR" dirty="0" err="1"/>
              <a:t>tehnologiile</a:t>
            </a:r>
            <a:r>
              <a:rPr lang="fr-FR" dirty="0"/>
              <a:t> </a:t>
            </a:r>
            <a:r>
              <a:rPr lang="fr-FR" dirty="0" err="1"/>
              <a:t>utilizate</a:t>
            </a:r>
            <a:endParaRPr dirty="0"/>
          </a:p>
        </p:txBody>
      </p:sp>
      <p:sp>
        <p:nvSpPr>
          <p:cNvPr id="18" name="Google Shape;249;p41">
            <a:extLst>
              <a:ext uri="{FF2B5EF4-FFF2-40B4-BE49-F238E27FC236}">
                <a16:creationId xmlns:a16="http://schemas.microsoft.com/office/drawing/2014/main" id="{D31212C2-41FE-6957-AABB-C8EEFCAAC49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8738" y="1244122"/>
            <a:ext cx="7606524" cy="3182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ro-RO" sz="1400" b="1" dirty="0"/>
              <a:t>Tipuri de rezultate generate</a:t>
            </a:r>
            <a:endParaRPr lang="ro-RO" sz="1400" dirty="0"/>
          </a:p>
          <a:p>
            <a:pPr marL="495300" indent="-342900">
              <a:buFont typeface="+mj-lt"/>
              <a:buAutoNum type="arabicPeriod"/>
            </a:pPr>
            <a:r>
              <a:rPr lang="ro-RO" sz="1400" dirty="0"/>
              <a:t>Lista daunelor detectate de YOLO11m (clasă, scor, coordonate).</a:t>
            </a:r>
          </a:p>
          <a:p>
            <a:pPr marL="495300" indent="-342900">
              <a:buFont typeface="+mj-lt"/>
              <a:buAutoNum type="arabicPeriod"/>
            </a:pPr>
            <a:r>
              <a:rPr lang="ro-RO" sz="1400" dirty="0"/>
              <a:t>Loguri tehnice: nume imagine, timp procesare, număr de detecții, scoruri confidence.</a:t>
            </a:r>
          </a:p>
          <a:p>
            <a:pPr marL="495300" indent="-342900">
              <a:buFont typeface="+mj-lt"/>
              <a:buAutoNum type="arabicPeriod"/>
            </a:pPr>
            <a:r>
              <a:rPr lang="ro-RO" sz="1400" dirty="0"/>
              <a:t>Statistici: rata de detecție YOLO, distribuția claselor, acuratețe pe setul </a:t>
            </a:r>
            <a:r>
              <a:rPr lang="ro-RO" sz="1400" i="1" dirty="0"/>
              <a:t>test</a:t>
            </a:r>
            <a:r>
              <a:rPr lang="ro-RO" sz="1400" dirty="0"/>
              <a:t>.</a:t>
            </a:r>
          </a:p>
          <a:p>
            <a:pPr marL="495300" indent="-342900">
              <a:buFont typeface="+mj-lt"/>
              <a:buAutoNum type="arabicPeriod"/>
            </a:pPr>
            <a:r>
              <a:rPr lang="ro-RO" sz="1400" dirty="0"/>
              <a:t>Export rezultate în formate digitale (JSON / CSV) pentru analiză și arhivare.</a:t>
            </a:r>
          </a:p>
          <a:p>
            <a:pPr>
              <a:lnSpc>
                <a:spcPct val="200000"/>
              </a:lnSpc>
            </a:pPr>
            <a:r>
              <a:rPr lang="ro-RO" sz="1400" b="1" dirty="0"/>
              <a:t>Utilizarea rezultatelor</a:t>
            </a:r>
            <a:endParaRPr lang="en-US" sz="1400" b="1" dirty="0"/>
          </a:p>
          <a:p>
            <a:r>
              <a:rPr lang="ro-RO" sz="1400" dirty="0"/>
              <a:t>Rezultatele permit evaluarea performanței modelului, optimizarea parametrilor YOLO11m</a:t>
            </a:r>
            <a:endParaRPr lang="en-US" sz="1400" dirty="0"/>
          </a:p>
          <a:p>
            <a:r>
              <a:rPr lang="ro-RO" sz="1400" dirty="0"/>
              <a:t>și integrarea detecțiilor în interfața web pentru afișarea daunelor și generarea unui raport</a:t>
            </a:r>
            <a:endParaRPr lang="en-US" sz="1400" dirty="0"/>
          </a:p>
          <a:p>
            <a:r>
              <a:rPr lang="ro-RO" sz="1400" dirty="0"/>
              <a:t>final.</a:t>
            </a:r>
          </a:p>
        </p:txBody>
      </p:sp>
    </p:spTree>
    <p:extLst>
      <p:ext uri="{BB962C8B-B14F-4D97-AF65-F5344CB8AC3E}">
        <p14:creationId xmlns:p14="http://schemas.microsoft.com/office/powerpoint/2010/main" val="3613101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1A170FD1-8897-1C90-1558-BEA29F705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>
            <a:extLst>
              <a:ext uri="{FF2B5EF4-FFF2-40B4-BE49-F238E27FC236}">
                <a16:creationId xmlns:a16="http://schemas.microsoft.com/office/drawing/2014/main" id="{52E56D35-C0FD-E32D-825C-DF953A4A2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dirty="0"/>
              <a:t>Beneficii, rezultate și direcții viitoare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C6D5B0-07E5-0CF7-9C2A-CBACFFF57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160539"/>
              </p:ext>
            </p:extLst>
          </p:nvPr>
        </p:nvGraphicFramePr>
        <p:xfrm>
          <a:off x="768739" y="1286277"/>
          <a:ext cx="7606524" cy="3150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5508">
                  <a:extLst>
                    <a:ext uri="{9D8B030D-6E8A-4147-A177-3AD203B41FA5}">
                      <a16:colId xmlns:a16="http://schemas.microsoft.com/office/drawing/2014/main" val="4215770089"/>
                    </a:ext>
                  </a:extLst>
                </a:gridCol>
                <a:gridCol w="2535508">
                  <a:extLst>
                    <a:ext uri="{9D8B030D-6E8A-4147-A177-3AD203B41FA5}">
                      <a16:colId xmlns:a16="http://schemas.microsoft.com/office/drawing/2014/main" val="2488788875"/>
                    </a:ext>
                  </a:extLst>
                </a:gridCol>
                <a:gridCol w="2535508">
                  <a:extLst>
                    <a:ext uri="{9D8B030D-6E8A-4147-A177-3AD203B41FA5}">
                      <a16:colId xmlns:a16="http://schemas.microsoft.com/office/drawing/2014/main" val="2196749386"/>
                    </a:ext>
                  </a:extLst>
                </a:gridCol>
              </a:tblGrid>
              <a:tr h="4741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dirty="0"/>
                        <a:t>Idicator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/>
                        <a:t>Sistem actual</a:t>
                      </a:r>
                      <a:endParaRPr lang="ro-R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/>
                        <a:t>Sistem AI propus</a:t>
                      </a:r>
                      <a:endParaRPr lang="ro-RO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1896810"/>
                  </a:ext>
                </a:extLst>
              </a:tr>
              <a:tr h="6266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000" b="0"/>
                        <a:t>Timp de înregistrare a prezenței</a:t>
                      </a:r>
                      <a:endParaRPr lang="ro-RO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000"/>
                        <a:t>Evaluare manuală, 5–10 minute per vehicul</a:t>
                      </a:r>
                      <a:endParaRPr lang="ro-RO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000"/>
                        <a:t>&lt; 5 secunde per imagine, proces automat YOLO</a:t>
                      </a:r>
                      <a:endParaRPr 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272326"/>
                  </a:ext>
                </a:extLst>
              </a:tr>
              <a:tr h="8056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000" b="0"/>
                        <a:t>Acuratețe a identificării</a:t>
                      </a:r>
                      <a:endParaRPr lang="ro-RO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000"/>
                        <a:t>Subiectivă, depinde de inspector și de experiență</a:t>
                      </a:r>
                      <a:endParaRPr lang="ro-RO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000"/>
                        <a:t>Detecție constantă, acuratețe ridicată pentru zgârieturi, lovituri, deformări</a:t>
                      </a:r>
                      <a:endParaRPr lang="ro-RO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7613456"/>
                  </a:ext>
                </a:extLst>
              </a:tr>
              <a:tr h="4741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000" dirty="0"/>
                        <a:t>Posibilitate de eroare</a:t>
                      </a:r>
                      <a:endParaRPr lang="ro-RO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000"/>
                        <a:t>Daune mici pot fi omise; interpretări diferite între inspectori</a:t>
                      </a:r>
                      <a:endParaRPr lang="ro-RO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000" dirty="0"/>
                        <a:t>Eroare redusă prin analiză obiectivă + NMS pentru eliminarea dublurilor</a:t>
                      </a:r>
                      <a:endParaRPr lang="ro-RO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4495021"/>
                  </a:ext>
                </a:extLst>
              </a:tr>
              <a:tr h="769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000" b="0"/>
                        <a:t>Raportare și arhivare</a:t>
                      </a:r>
                      <a:endParaRPr lang="ro-RO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000" dirty="0"/>
                        <a:t>Poze neorganizate, descrieri manuale</a:t>
                      </a:r>
                      <a:endParaRPr lang="ro-RO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000" dirty="0"/>
                        <a:t>Raport automat (JSON/CSV) cu clase, scoruri și bounding boxes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3821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0457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05BC4D56-D536-0DF7-507C-A8F1BB967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>
            <a:extLst>
              <a:ext uri="{FF2B5EF4-FFF2-40B4-BE49-F238E27FC236}">
                <a16:creationId xmlns:a16="http://schemas.microsoft.com/office/drawing/2014/main" id="{3AD58390-356C-1E7E-7E1D-ACC6FA3450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dirty="0"/>
              <a:t>Beneficii, rezultate și direcții viitoare</a:t>
            </a:r>
            <a:endParaRPr dirty="0"/>
          </a:p>
        </p:txBody>
      </p:sp>
      <p:sp>
        <p:nvSpPr>
          <p:cNvPr id="18" name="Google Shape;249;p41">
            <a:extLst>
              <a:ext uri="{FF2B5EF4-FFF2-40B4-BE49-F238E27FC236}">
                <a16:creationId xmlns:a16="http://schemas.microsoft.com/office/drawing/2014/main" id="{7BF82669-28B5-6FF5-F161-7B413CB1B79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8738" y="1083700"/>
            <a:ext cx="7606524" cy="3182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ro-RO" sz="1400" b="1" dirty="0"/>
              <a:t>Concluzii generale</a:t>
            </a: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Sistemul Car Damage Detector automatizează procesul de evaluare a daunelor auto.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Timpul de analiză scade de la minute la câteva secunde per imagine.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Detecție constantă și obiectivă, independentă de experiența inspectorului.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Reducerea erorilor umane și a interpretărilor subiective.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Standardizare completă a procesului de inspecție vizuală.</a:t>
            </a:r>
          </a:p>
          <a:p>
            <a:pPr>
              <a:lnSpc>
                <a:spcPct val="200000"/>
              </a:lnSpc>
            </a:pPr>
            <a:r>
              <a:rPr lang="ro-RO" sz="1400" b="1" dirty="0"/>
              <a:t>Impact asupra mediului industrial</a:t>
            </a:r>
          </a:p>
          <a:p>
            <a:r>
              <a:rPr lang="ro-RO" sz="1400" dirty="0"/>
              <a:t>Sistemul crește eficiența operațională în service-uri, companii de asigurări și flote auto, </a:t>
            </a:r>
            <a:endParaRPr lang="en-US" sz="1400" dirty="0"/>
          </a:p>
          <a:p>
            <a:r>
              <a:rPr lang="ro-RO" sz="1400" dirty="0"/>
              <a:t>prin automatizarea evaluării vizuale și îmbunătățirea consistenței datelor analizate.</a:t>
            </a:r>
          </a:p>
          <a:p>
            <a:pPr>
              <a:lnSpc>
                <a:spcPct val="200000"/>
              </a:lnSpc>
            </a:pPr>
            <a:r>
              <a:rPr lang="ro-RO" sz="1400" b="1" dirty="0"/>
              <a:t>Direcții viitoare</a:t>
            </a: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Integrarea unui modul AI de estimare a costurilor de reparație.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Extinderea la detectarea daunelor interioare și a componentelor lipsă.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ro-RO" sz="1400" dirty="0"/>
              <a:t>Implementarea unui model YOLO-Seg pentru segmentarea precisă a zonelor afectate.</a:t>
            </a:r>
          </a:p>
        </p:txBody>
      </p:sp>
    </p:spTree>
    <p:extLst>
      <p:ext uri="{BB962C8B-B14F-4D97-AF65-F5344CB8AC3E}">
        <p14:creationId xmlns:p14="http://schemas.microsoft.com/office/powerpoint/2010/main" val="1012016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2E55D5B3-A109-628D-F672-4B352A3C4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>
            <a:extLst>
              <a:ext uri="{FF2B5EF4-FFF2-40B4-BE49-F238E27FC236}">
                <a16:creationId xmlns:a16="http://schemas.microsoft.com/office/drawing/2014/main" id="{E7043085-DA42-1450-D2C9-68F48A7D48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dirty="0"/>
              <a:t>Surse bibliografice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4D4E7F-6DD0-86E9-8ABB-6DEA8822D94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68736" y="1083824"/>
            <a:ext cx="7606526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ro-RO" altLang="ro-RO" b="1" dirty="0">
                <a:solidFill>
                  <a:schemeClr val="tx1"/>
                </a:solidFill>
                <a:latin typeface="Arial" panose="020B0604020202020204" pitchFamily="34" charset="0"/>
              </a:rPr>
              <a:t>Ultralytics YOLO11 – Documentație oficială</a:t>
            </a:r>
            <a:br>
              <a:rPr lang="ro-RO" altLang="ro-RO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ro-RO" altLang="ro-RO" dirty="0">
                <a:solidFill>
                  <a:schemeClr val="tx1"/>
                </a:solidFill>
                <a:latin typeface="Arial" panose="020B0604020202020204" pitchFamily="34" charset="0"/>
                <a:hlinkClick r:id="rId3"/>
              </a:rPr>
              <a:t>https://docs.ultralytics.com/</a:t>
            </a:r>
            <a:endParaRPr lang="ro-RO" altLang="ro-RO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ro-RO" altLang="ro-RO" b="1" dirty="0">
                <a:solidFill>
                  <a:schemeClr val="tx1"/>
                </a:solidFill>
                <a:latin typeface="Arial" panose="020B0604020202020204" pitchFamily="34" charset="0"/>
              </a:rPr>
              <a:t>Car Damage Detection Dataset (CarDD)</a:t>
            </a:r>
            <a:br>
              <a:rPr lang="ro-RO" altLang="ro-RO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ro-RO" altLang="ro-RO" dirty="0">
                <a:solidFill>
                  <a:schemeClr val="tx1"/>
                </a:solidFill>
                <a:latin typeface="Arial" panose="020B0604020202020204" pitchFamily="34" charset="0"/>
                <a:hlinkClick r:id="rId4"/>
              </a:rPr>
              <a:t>https://cardd-ustc.github.io/?utm_source=chatgpt.com</a:t>
            </a:r>
            <a:endParaRPr lang="ro-RO" altLang="ro-RO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ro-RO" altLang="ro-RO" b="1" dirty="0">
                <a:solidFill>
                  <a:schemeClr val="tx1"/>
                </a:solidFill>
                <a:latin typeface="Arial" panose="020B0604020202020204" pitchFamily="34" charset="0"/>
              </a:rPr>
              <a:t>Automatic Car Damage Detection using Deep CNNs</a:t>
            </a:r>
            <a:br>
              <a:rPr lang="ro-RO" altLang="ro-RO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ro-RO" altLang="ro-RO" dirty="0">
                <a:solidFill>
                  <a:schemeClr val="tx1"/>
                </a:solidFill>
                <a:latin typeface="Arial" panose="020B0604020202020204" pitchFamily="34" charset="0"/>
                <a:hlinkClick r:id="rId5"/>
              </a:rPr>
              <a:t>https://arxiv.org/abs/2106.02159</a:t>
            </a:r>
            <a:endParaRPr lang="ro-RO" altLang="ro-RO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ro-RO" altLang="ro-RO" b="1" dirty="0">
                <a:solidFill>
                  <a:schemeClr val="tx1"/>
                </a:solidFill>
                <a:latin typeface="Arial" panose="020B0604020202020204" pitchFamily="34" charset="0"/>
              </a:rPr>
              <a:t>Vehicle Damage Detection and Severity Analysis (IEEE)</a:t>
            </a:r>
            <a:br>
              <a:rPr lang="ro-RO" altLang="ro-RO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ro-RO" altLang="ro-RO" dirty="0">
                <a:solidFill>
                  <a:schemeClr val="tx1"/>
                </a:solidFill>
                <a:latin typeface="Arial" panose="020B0604020202020204" pitchFamily="34" charset="0"/>
                <a:hlinkClick r:id="rId6"/>
              </a:rPr>
              <a:t>https://ieeexplore.ieee.org/document/9284582</a:t>
            </a:r>
            <a:endParaRPr lang="ro-RO" altLang="ro-RO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ro-RO" altLang="ro-RO" b="1" dirty="0">
                <a:solidFill>
                  <a:schemeClr val="tx1"/>
                </a:solidFill>
                <a:latin typeface="Arial" panose="020B0604020202020204" pitchFamily="34" charset="0"/>
              </a:rPr>
              <a:t>YOLOv8 Vehicle Damage Detector – Proiect Open-Source</a:t>
            </a:r>
            <a:br>
              <a:rPr lang="ro-RO" altLang="ro-RO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ro-RO" altLang="ro-RO" dirty="0">
                <a:solidFill>
                  <a:schemeClr val="tx1"/>
                </a:solidFill>
                <a:latin typeface="Arial" panose="020B0604020202020204" pitchFamily="34" charset="0"/>
                <a:hlinkClick r:id="rId7"/>
              </a:rPr>
              <a:t>https://github.com/NabilNawa/YOLOv8-Vehicle-Damage-Detector?utm_source=chatgpt.com</a:t>
            </a:r>
            <a:endParaRPr lang="ro-RO" altLang="ro-RO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ro-RO" altLang="ro-RO" b="1" dirty="0">
                <a:solidFill>
                  <a:schemeClr val="tx1"/>
                </a:solidFill>
                <a:latin typeface="Arial" panose="020B0604020202020204" pitchFamily="34" charset="0"/>
              </a:rPr>
              <a:t>Car Damage Detection – Mask R-CNN / Segmentare</a:t>
            </a:r>
            <a:br>
              <a:rPr lang="ro-RO" altLang="ro-RO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ro-RO" altLang="ro-RO" dirty="0">
                <a:solidFill>
                  <a:schemeClr val="tx1"/>
                </a:solidFill>
                <a:latin typeface="Arial" panose="020B0604020202020204" pitchFamily="34" charset="0"/>
                <a:hlinkClick r:id="rId8"/>
              </a:rPr>
              <a:t>https://github.com/louisyuzhe/car-damage-detector?utm_source=chatgpt.com</a:t>
            </a:r>
            <a:endParaRPr lang="ro-RO" altLang="ro-RO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ro-RO" altLang="ro-RO" b="1" dirty="0">
                <a:solidFill>
                  <a:schemeClr val="tx1"/>
                </a:solidFill>
                <a:latin typeface="Arial" panose="020B0604020202020204" pitchFamily="34" charset="0"/>
              </a:rPr>
              <a:t>Vehicle Damage Detection – Systematic Literature Review (2025)</a:t>
            </a:r>
            <a:br>
              <a:rPr lang="ro-RO" altLang="ro-RO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ro-RO" altLang="ro-RO" dirty="0">
                <a:solidFill>
                  <a:schemeClr val="tx1"/>
                </a:solidFill>
                <a:latin typeface="Arial" panose="020B0604020202020204" pitchFamily="34" charset="0"/>
                <a:hlinkClick r:id="rId9"/>
              </a:rPr>
              <a:t>https://www.researchgate.net/publication/392493928_Vehicle_Damage_Detection_Using_Artificial_Intelligence_A_Systematic_Literature_Review?utm_source=chatgpt.com</a:t>
            </a:r>
            <a:endParaRPr lang="ro-RO" altLang="ro-RO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o-RO" altLang="ro-R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OpenAI.</a:t>
            </a:r>
            <a:br>
              <a:rPr kumimoji="0" lang="ro-RO" altLang="ro-R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o-RO" altLang="ro-RO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ChatGPT</a:t>
            </a:r>
            <a:r>
              <a:rPr kumimoji="0" lang="ro-RO" altLang="ro-R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Instrument AI generativ utilizat pentru documentare, sinteză și redactarea textelor de prezentare.</a:t>
            </a:r>
            <a:br>
              <a:rPr kumimoji="0" lang="ro-RO" altLang="ro-R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o-RO" altLang="ro-R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0"/>
              </a:rPr>
              <a:t>https://chat.openai.com</a:t>
            </a:r>
            <a:endParaRPr kumimoji="0" lang="ro-RO" altLang="ro-R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532774"/>
      </p:ext>
    </p:extLst>
  </p:cSld>
  <p:clrMapOvr>
    <a:masterClrMapping/>
  </p:clrMapOvr>
</p:sld>
</file>

<file path=ppt/theme/theme1.xml><?xml version="1.0" encoding="utf-8"?>
<a:theme xmlns:a="http://schemas.openxmlformats.org/drawingml/2006/main" name="Lead Funnel by Slidesgo">
  <a:themeElements>
    <a:clrScheme name="Simple Light">
      <a:dk1>
        <a:srgbClr val="15110E"/>
      </a:dk1>
      <a:lt1>
        <a:srgbClr val="FFFAF6"/>
      </a:lt1>
      <a:dk2>
        <a:srgbClr val="C2E5F5"/>
      </a:dk2>
      <a:lt2>
        <a:srgbClr val="5296B8"/>
      </a:lt2>
      <a:accent1>
        <a:srgbClr val="13566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10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1403</Words>
  <Application>Microsoft Office PowerPoint</Application>
  <PresentationFormat>On-screen Show (16:9)</PresentationFormat>
  <Paragraphs>165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Albert Sans</vt:lpstr>
      <vt:lpstr>Alexandria Medium</vt:lpstr>
      <vt:lpstr>Arial</vt:lpstr>
      <vt:lpstr>Lead Funnel by Slidesgo</vt:lpstr>
      <vt:lpstr>Sistem AI de detecție automată a daunelor auto pe baza analizei imaginii</vt:lpstr>
      <vt:lpstr>01</vt:lpstr>
      <vt:lpstr>Introducere și motivație</vt:lpstr>
      <vt:lpstr>Domeniul industrial și studiul de caz</vt:lpstr>
      <vt:lpstr>Provocări actuale și nevoi identificate</vt:lpstr>
      <vt:lpstr>Prezentarea sistemului AI propus</vt:lpstr>
      <vt:lpstr>Arhitectura sistemului</vt:lpstr>
      <vt:lpstr>Arhitectura sistemului</vt:lpstr>
      <vt:lpstr>Fluxul de date și tehnologiile utilizate</vt:lpstr>
      <vt:lpstr>Fluxul de date și tehnologiile utilizate</vt:lpstr>
      <vt:lpstr>Fluxul de date și tehnologiile utilizate</vt:lpstr>
      <vt:lpstr>Beneficii, rezultate și direcții viitoare</vt:lpstr>
      <vt:lpstr>Beneficii, rezultate și direcții viitoare</vt:lpstr>
      <vt:lpstr>Surse bibliografice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Teddy B</dc:creator>
  <cp:lastModifiedBy>Teddy B</cp:lastModifiedBy>
  <cp:revision>5</cp:revision>
  <dcterms:modified xsi:type="dcterms:W3CDTF">2025-11-27T07:27:07Z</dcterms:modified>
</cp:coreProperties>
</file>